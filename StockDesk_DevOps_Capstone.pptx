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4ffb901-f951-ab44-89b9-b5d4318f0c9e}">
          <p14:sldIdLst>
            <p14:sldId id="256"/>
          </p14:sldIdLst>
        </p14:section>
        <p14:section name="Overview" id="{cae48c86-b0c0-f157-3669-d11e9241d74d}">
          <p14:sldIdLst>
            <p14:sldId id="257"/>
            <p14:sldId id="259"/>
          </p14:sldIdLst>
        </p14:section>
        <p14:section name="Architecture" id="{ca977ba6-cc28-5561-cb37-783bc02c45c1}">
          <p14:sldIdLst>
            <p14:sldId id="258"/>
          </p14:sldIdLst>
        </p14:section>
        <p14:section name="Application" id="{39a5e260-9afa-8cbc-e4c7-830a2d6f3a80}">
          <p14:sldIdLst>
            <p14:sldId id="260"/>
          </p14:sldIdLst>
        </p14:section>
        <p14:section name="Build &amp; Ship" id="{6b348ecd-7845-01b7-d04a-92976e2fc4cc}">
          <p14:sldIdLst>
            <p14:sldId id="261"/>
            <p14:sldId id="262"/>
          </p14:sldIdLst>
        </p14:section>
        <p14:section name="Security" id="{f600b0fd-3d57-d12a-33ca-b71db15d7697}">
          <p14:sldIdLst>
            <p14:sldId id="263"/>
          </p14:sldIdLst>
        </p14:section>
        <p14:section name="Infrastructure" id="{d5d11f7a-2fbc-6cf3-c103-17fc532a70f4}">
          <p14:sldIdLst>
            <p14:sldId id="264"/>
            <p14:sldId id="265"/>
          </p14:sldIdLst>
        </p14:section>
        <p14:section name="Observability" id="{9dff7bd6-ed3a-d777-3738-5e2945965795}">
          <p14:sldIdLst>
            <p14:sldId id="266"/>
          </p14:sldIdLst>
        </p14:section>
        <p14:section name="GitOps" id="{81c0e9ef-ec0a-0f30-0315-1e12012753a8}">
          <p14:sldIdLst>
            <p14:sldId id="267"/>
          </p14:sldIdLst>
        </p14:section>
        <p14:section name="Results" id="{a1fd7365-fe7b-8f86-47d2-26f253f8e1d8}">
          <p14:sldIdLst>
            <p14:sldId id="268"/>
          </p14:sldIdLst>
        </p14:section>
        <p14:section name="Close" id="{38ca97f7-0d45-b021-fd9e-e5b23d62ba3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req/s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B2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/api/products</c:v>
                  </c:pt>
                  <c:pt idx="1">
                    <c:v>/products/stats</c:v>
                  </c:pt>
                  <c:pt idx="2">
                    <c:v>/health</c:v>
                  </c:pt>
                  <c:pt idx="3">
                    <c:v>/ready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0.24</c:v>
                </c:pt>
                <c:pt idx="1">
                  <c:v>0.18</c:v>
                </c:pt>
                <c:pt idx="2">
                  <c:v>0.11</c:v>
                </c:pt>
                <c:pt idx="3">
                  <c:v>0.09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41B2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StockDesk is a hardware inventory tracker used to demonstrate a full DevOps lifecycle. The app itself is simple on purpose — the capstone is about the engineering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Three-tier app. Stock status auto-derived. The DevOps around it is the real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commit flows left to right into AWS. Inside EKS, ingress routes to two frontend and two backend pods, backed by Postgres, scaled by an HPA, observed by Prometheus/Grafana.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toolchain, grouped by concern. Each maps to a graded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endpoints, eleven passing tests against SQLite. Tests gate the pipeline — no green tests, no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hardened multi-stage images, a single compose command for the whole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stages, each a gate. Images are tagged by commit SHA for full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controls across the pipeline. The gate uses --ignore-unfixed, so it blocks only on actionable, fixable CVEs.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AWS is code — one apply to build, one destroy to remove. No console clicking, no leftover billing.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Helm chart deploys the whole app; HPA and Ingress make it production-shaped. Raw manifests are provided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flow from the app to Prometheus to Grafana. The chart mirrors the live dashboard panel captured during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ArgoCD adds declarative, self-healing GitOps on top of Helm — beyond the rubric, but the real-world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scorecard: every module covered with real, captured evidence, a green pipeline, and a clean AWS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lifecycle delivered. The two fixes show that deploying for real surfaces issues tests never will. Thanks — happy to demo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22402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lnSpc>
                <a:spcPct val="100000"/>
              </a:lnSpc>
              <a:buNone/>
            </a:pP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49808" y="4114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1908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StockDesk  ·  DevOps 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515600" cy="2926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00A896"/>
                </a:solidFill>
              </a:rPr>
              <a:t>SESSION 21 · DEVOPS FINAL CAPSTONE</a:t>
            </a:r>
            <a:endParaRPr lang="en-US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731520" y="22402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FFFFFF"/>
                </a:solidFill>
              </a:rPr>
              <a:t>StockDesk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749808" y="4114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CADCFC"/>
                </a:solidFill>
              </a:rPr>
              <a:t>An end-to-end, cloud-native DevOps lifecycle — from a FastAPI + React + PostgreSQL app to a monitored, GitOps-managed Kubernetes platform on AWS EKS.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73152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◆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5577840"/>
            <a:ext cx="1088136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5577840"/>
            <a:ext cx="1088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FastAPI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84248" y="5577840"/>
            <a:ext cx="86868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84248" y="55778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React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5577840"/>
            <a:ext cx="141732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17520" y="55778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PostgreSQL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99432" y="5577840"/>
            <a:ext cx="978408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99432" y="557784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Docker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42432" y="5577840"/>
            <a:ext cx="1307592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42432" y="5577840"/>
            <a:ext cx="1307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Terraform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14616" y="5577840"/>
            <a:ext cx="649224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14616" y="5577840"/>
            <a:ext cx="64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EKS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28432" y="5577840"/>
            <a:ext cx="758952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28432" y="5577840"/>
            <a:ext cx="75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Helm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51976" y="5577840"/>
            <a:ext cx="978408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51976" y="557784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ArgoCD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94976" y="5577840"/>
            <a:ext cx="141732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94976" y="55778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Prometheus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Narendra Sirvi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What is StockDesk?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B2D"/>
                </a:solidFill>
              </a:rPr>
              <a:t>A hardware-store inventory tracker: products have a name, SKU, category, quantity and price, and their stock status is derived automatically from the quantity on hand.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95728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Frontend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React + Vite SPA served by unprivileged Nginx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0248" y="21488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2395728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048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Backend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FastAPI (Python 3.12) REST API, SQLAlchemy 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856" y="21488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239572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77656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Database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PostgreSQL 16 with Alembic migrations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1036808" cy="1737360"/>
          </a:xfrm>
          <a:prstGeom prst="roundRect">
            <a:avLst>
              <a:gd name="adj" fmla="val 5263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Stock status is derived from quantity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4892040"/>
            <a:ext cx="201168" cy="20116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07008" y="48097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IN_STOCK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5138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quantity &gt; 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0560" y="489204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73168" y="48097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LOW_STOCK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73168" y="5138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1 – 5 left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892040"/>
            <a:ext cx="201168" cy="20116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39328" y="48097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OUT_OF_STOCK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339328" y="5138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quantity = 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F46E5"/>
                </a:solidFill>
              </a:rPr>
              <a:t>The point of the capstone is not the app — it is the DevOps lifecycle applied to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End-to-end delivery architecture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24712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4712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Develop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Git push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08376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08376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478024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CI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Test · Scan · 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15968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GHCR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SHA-tagged images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99632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75704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75704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Terraform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45352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VPC + 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83296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59368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59368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129016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Helm / ArgoCD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29016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Deploy &amp; reconcile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66960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543032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543032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Observe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Prometheus + Grafana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3291840"/>
            <a:ext cx="11036808" cy="2697480"/>
          </a:xfrm>
          <a:prstGeom prst="roundRect">
            <a:avLst>
              <a:gd name="adj" fmla="val 3390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22960" y="3429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AWS EKS Cluster  ·  namespace: stockdesk  ·  ap-south-1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22960" y="4023360"/>
            <a:ext cx="201168" cy="20116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33856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Ingress-NGINX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" y="4270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AWS ELB · / → frontend · /api → backend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023360"/>
            <a:ext cx="201168" cy="2011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28816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Frontend ×2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28816" y="4270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React build on Nginx (ClusterIP)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2960" y="4983480"/>
            <a:ext cx="201168" cy="20116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133856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Backend ×2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133856" y="5230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FastAPI · HPA 2→6 @ 60% CPU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498348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28816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528816" y="5230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StatefulSet-style + 5Gi gp3 PVC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Technologies used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73352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15727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Application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FastAPI · React/Vite · PostgreSQL · SQLAlchemy · Alembic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673352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0" y="15727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Containers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Docker multi-stage · Docker Compose · non-root images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880360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63040" y="27797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CI/CD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145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GitHub Actions · GitHub Container Registry (GHCR)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2624328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2880360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40880" y="27797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DevSecOps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145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Trivy · Bandit (SAST) · Gitleaks · pip/npm audit (SCA)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087368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463040" y="39867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Infrastructure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352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Terraform · AWS VPC · EKS · NAT · managed node group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3831336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5080" y="4087368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0" y="39867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Orchestration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4352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Kubernetes 1.34 · Helm · Ingress-NGINX · HPA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94376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EA5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463040" y="5193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Observability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595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Prometheus · Grafana · ServiceMonitor · alert rules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26480" y="5038344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55080" y="5294376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F766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040880" y="5193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GitOps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55595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ArgoCD — pull-based, self-healing continuous delivery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Application &amp; testing  ·  M1 / M2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4F46E5"/>
                </a:solidFill>
              </a:rPr>
              <a:t>9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REST endpoints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6A34A"/>
                </a:solidFill>
              </a:rPr>
              <a:t>11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Pytest cases, all green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A896"/>
                </a:solidFill>
              </a:rPr>
              <a:t>100%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API test pass rate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5486400" cy="2971800"/>
          </a:xfrm>
          <a:prstGeom prst="roundRect">
            <a:avLst>
              <a:gd name="adj" fmla="val 307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REST API — /api/products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/health · /ready · /metrics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/api/products   — 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/api/products   — create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/api/products/{id}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 /api/products/{id}   — update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 /api/products/{id}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/api/products/stats   — summary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971800"/>
            <a:ext cx="5321808" cy="2971800"/>
          </a:xfrm>
          <a:prstGeom prst="roundRect">
            <a:avLst>
              <a:gd name="adj" fmla="val 3077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Quality gates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5661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41B2D"/>
                </a:solidFill>
              </a:rPr>
              <a:t>Pytest runs against an isolated SQLite test DB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41B2D"/>
                </a:solidFill>
              </a:rPr>
              <a:t>Covers CRUD, status derivation, stats &amp; /metrics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41B2D"/>
                </a:solidFill>
              </a:rPr>
              <a:t>pytest.ini + conftest.py fixtures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41B2D"/>
                </a:solidFill>
              </a:rPr>
              <a:t>Tests must pass before any image is built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41B2D"/>
                </a:solidFill>
              </a:rPr>
              <a:t>Alembic migration version-controls the schema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Containerization  ·  M4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00784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08760" y="16276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Multi-stage builds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0116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Build tools stripped from runtime images — small, clean layers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7121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08760" y="27980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Non-root by default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182112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Backend UID 10001 · frontend unprivileged Nginx on :8080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4041648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08760" y="396849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One-command stack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352544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docker compose up --build boots Postgres + backend + frontend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974336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212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1389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.dockerignore hygiene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52297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No .git, node_modules, .venv or test DBs baked into layers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CI/CD pipeline  ·  M5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B2D"/>
                </a:solidFill>
              </a:rPr>
              <a:t>GitHub Actions runs on every push &amp; PR to main. Each stage gates the next.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84832" cy="1783080"/>
          </a:xfrm>
          <a:prstGeom prst="roundRect">
            <a:avLst>
              <a:gd name="adj" fmla="val 5128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176272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16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82112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Pytest + Vite build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16352" y="1965960"/>
            <a:ext cx="2084832" cy="1783080"/>
          </a:xfrm>
          <a:prstGeom prst="roundRect">
            <a:avLst>
              <a:gd name="adj" fmla="val 5128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4448" y="2176272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2816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Scan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89504" y="3182112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Trivy CVE gate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4064" y="1965960"/>
            <a:ext cx="2084832" cy="1783080"/>
          </a:xfrm>
          <a:prstGeom prst="roundRect">
            <a:avLst>
              <a:gd name="adj" fmla="val 5128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17627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816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Build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157216" y="3182112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Multi-stage images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1776" y="1965960"/>
            <a:ext cx="2084832" cy="1783080"/>
          </a:xfrm>
          <a:prstGeom prst="roundRect">
            <a:avLst>
              <a:gd name="adj" fmla="val 5128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19872" y="2176272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9872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43216" y="2816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Push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24928" y="3182112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GHCR :&lt;git-sha&gt;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19488" y="1965960"/>
            <a:ext cx="2084832" cy="1783080"/>
          </a:xfrm>
          <a:prstGeom prst="roundRect">
            <a:avLst>
              <a:gd name="adj" fmla="val 5128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87584" y="2176272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387584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816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Deploy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182112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Helm upgrade → EKS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11036808" cy="1783080"/>
          </a:xfrm>
          <a:prstGeom prst="roundRect">
            <a:avLst>
              <a:gd name="adj" fmla="val 5128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251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Pipeline principles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46634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B2D"/>
                </a:solidFill>
              </a:rPr>
              <a:t>Quality gates — test or CVE failures abort before any image is pushed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B2D"/>
                </a:solidFill>
              </a:rPr>
              <a:t>Immutable, traceable images — every image tagged with the exact commit SHA (never :latest)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B2D"/>
                </a:solidFill>
              </a:rPr>
              <a:t>Deploy job configures kubectl for EKS and runs helm upgrade --install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DevSecOps — security shifted left  ·  M6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36808" cy="804672"/>
          </a:xfrm>
          <a:prstGeom prst="roundRect">
            <a:avLst>
              <a:gd name="adj" fmla="val 1136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4592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4447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Gitleaks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11880" y="1591056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1880" y="15910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Secret scanning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44475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Finds leaked tokens, keys &amp; connection strings in commits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11036808" cy="804672"/>
          </a:xfrm>
          <a:prstGeom prst="roundRect">
            <a:avLst>
              <a:gd name="adj" fmla="val 1136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578608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23774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Bandit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11880" y="252374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237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377440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Static analysis of Python for injection &amp; unsafe calls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36976"/>
            <a:ext cx="11036808" cy="804672"/>
          </a:xfrm>
          <a:prstGeom prst="roundRect">
            <a:avLst>
              <a:gd name="adj" fmla="val 1136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511296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3101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pip / npm audit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11880" y="3456432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11880" y="3456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3310128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Dependencies checked against known-vulnerability databases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169664"/>
            <a:ext cx="11036808" cy="804672"/>
          </a:xfrm>
          <a:prstGeom prst="roundRect">
            <a:avLst>
              <a:gd name="adj" fmla="val 1136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4443984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88720" y="42428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Aqua Trivy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611880" y="43891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11880" y="4389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Container CVEs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4242816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Scans OS packages &amp; libraries in the built image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102352"/>
            <a:ext cx="11036808" cy="804672"/>
          </a:xfrm>
          <a:prstGeom prst="roundRect">
            <a:avLst>
              <a:gd name="adj" fmla="val 11364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7667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88720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Security gate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611880" y="5321808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11880" y="5321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Enforcement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5175504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Pipeline fails on HIGH/CRITICAL that have an available fix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4F46E5"/>
                </a:solidFill>
              </a:rPr>
              <a:t>Scan result: 44 HIGH / 0 CRITICAL — all in base-image OS packages with no upstream fix; every Python dependency clean.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Infrastructure as Code  ·  M7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10.20.0.0/16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VPC CIDR (ap-south-1)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A896"/>
                </a:solidFill>
              </a:rPr>
              <a:t>2 + 2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Public / private subnets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417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34A"/>
                </a:solidFill>
              </a:rPr>
              <a:t>EKS 1.34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2-node managed group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Terraform provisions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VPC with public &amp; private subnets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Internet Gateway + NAT Gateway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EKS control plane (public endpoint)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Managed node group (c7i-flex.large)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IAM roles, OIDC provider &amp; KMS key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3017520"/>
            <a:ext cx="5321808" cy="2926080"/>
          </a:xfrm>
          <a:prstGeom prst="roundRect">
            <a:avLst>
              <a:gd name="adj" fmla="val 3125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Repeatable &amp; disposable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init → validate → plan → apply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Modular use of terraform-aws-modules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terraform.tfvars.example (no secrets committed)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1B2D"/>
                </a:solidFill>
              </a:rPr>
              <a:t>terraform destroy tears it all down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50" b="1" dirty="0">
                <a:solidFill>
                  <a:srgbClr val="16A34A"/>
                </a:solidFill>
              </a:rPr>
              <a:t>Verified: 0 resources left → no runaway cost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Kubernetes &amp; Helm  ·  M8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55064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81328" y="16002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Helm chart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020824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Parameterized templates + dev/prod values files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655064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59168" y="16002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2 replicas each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59168" y="2020824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Backend &amp; frontend Deployments for availability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3639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81328" y="308152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ClusterIP services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50215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Stable in-cluster networking for all three tiers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26480" y="2898648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313639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59168" y="308152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Ingress routing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350215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/ → frontend · /api → backend via Ingress-NGINX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6177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481328" y="456285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HPA 2 → 6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49834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Backend autoscales on 60% CPU (metrics-server)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4379976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5080" y="46177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59168" y="456285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Raw manifests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49834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kubernetes/00–10 provided alongside the chart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Monitoring &amp; observability  ·  M9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B2D"/>
                </a:solidFill>
              </a:rPr>
              <a:t>FastAPI instrumented — request counts, latency histograms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B2D"/>
                </a:solidFill>
              </a:rPr>
              <a:t>Prometheus scrapes /metrics every 15s via ServiceMonitor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B2D"/>
                </a:solidFill>
              </a:rPr>
              <a:t>Grafana dashboard: RPS, 5xx rate, p95 latency, pods up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41B2D"/>
                </a:solidFill>
              </a:rPr>
              <a:t>Alert rules: BackendDown &amp; High5xxErrorRate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035040" y="1417320"/>
            <a:ext cx="5550408" cy="4480560"/>
          </a:xfrm>
          <a:prstGeom prst="roundRect">
            <a:avLst>
              <a:gd name="adj" fmla="val 2041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63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Requests per second by endpoint (Grafana)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172200" y="1965960"/>
          <a:ext cx="52578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572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6A34A"/>
                </a:solidFill>
              </a:rPr>
              <a:t>2/2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backend targets UP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572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A896"/>
                </a:solidFill>
              </a:rPr>
              <a:t>15s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scrape interval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GitOps with ArgoCD  ·  bonus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0078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2763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Git is the source of truth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116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ArgoCD watches helm/stockdesk and reconciles the cluster to 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87121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8712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79806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Pull-based delivery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8211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cluster pulls desired state — no pushing kubeconfig around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0416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96849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Self-healing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352544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Manual kubectl drift is automatically reverted to Git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974336"/>
            <a:ext cx="11036808" cy="1024128"/>
          </a:xfrm>
          <a:prstGeom prst="roundRect">
            <a:avLst>
              <a:gd name="adj" fmla="val 8929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212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13892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424"/>
                </a:solidFill>
              </a:rPr>
              <a:t>Observed result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522976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Application stockdesk-capstone: Synced &amp; Healthy (17 resources)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Results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6A34A"/>
                </a:solidFill>
              </a:rPr>
              <a:t>10 / 10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modules delivered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61104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352544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F46E5"/>
                </a:solidFill>
              </a:rPr>
              <a:t>11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4352544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tests passing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3568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65008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A896"/>
                </a:solidFill>
              </a:rPr>
              <a:t>Green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8065008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CI/CD pipeline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7C3AED"/>
                </a:solidFill>
              </a:rPr>
              <a:t>18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evidence screenshots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61104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52544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</a:rPr>
              <a:t>$0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4352544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AWS cost after destroy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973568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065008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A5E9"/>
                </a:solidFill>
              </a:rPr>
              <a:t>1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Loom demo walkthrough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00A896"/>
                </a:solidFill>
              </a:rPr>
              <a:t>CONCLUSION</a:t>
            </a:r>
            <a:endParaRPr lang="en-US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731520" y="19202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FFFFFF"/>
                </a:solidFill>
              </a:rPr>
              <a:t>From laptop to monitored production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749808" y="3108960"/>
            <a:ext cx="10515600" cy="2926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spcAft>
                <a:spcPts val="1400"/>
              </a:spcAft>
              <a:buNone/>
            </a:pPr>
            <a:r>
              <a:rPr lang="en-US" dirty="0">
                <a:solidFill>
                  <a:srgbClr val="CADCFC"/>
                </a:solidFill>
              </a:rPr>
              <a:t>A simple app carried through the full DevOps lifecycle: containers, tested CI/CD, DevSecOps scanning, Terraform-provisioned EKS, Helm, GitOps, and observability.</a:t>
            </a:r>
            <a:endParaRPr lang="en-US" dirty="0"/>
          </a:p>
          <a:p>
            <a:pPr indent="0" marL="0">
              <a:spcAft>
                <a:spcPts val="600"/>
              </a:spcAft>
              <a:buNone/>
            </a:pPr>
            <a:r>
              <a:rPr lang="en-US" b="1" dirty="0">
                <a:solidFill>
                  <a:srgbClr val="FFFFFF"/>
                </a:solidFill>
              </a:rPr>
              <a:t>Real bugs found by actually deploying: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CADCFC"/>
                </a:solidFill>
              </a:rPr>
              <a:t>alembic prepend_sys_path — migrations couldn't import app in-container</a:t>
            </a:r>
            <a:endParaRPr lang="en-US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CADCFC"/>
                </a:solidFill>
              </a:rPr>
              <a:t>Postgres PGDATA subdir — initdb fails on an EBS volume's lost+found</a:t>
            </a:r>
            <a:endParaRPr lang="en-US" dirty="0"/>
          </a:p>
          <a:p>
            <a:pPr indent="0" marL="0">
              <a:buNone/>
            </a:pPr>
            <a:r>
              <a:rPr lang="en-US" b="1" dirty="0">
                <a:solidFill>
                  <a:srgbClr val="00A896"/>
                </a:solidFill>
              </a:rPr>
              <a:t>Demo:  loom.com/share/17e254cf0a774a64ac4bbb830a0a734e</a:t>
            </a:r>
            <a:endParaRPr lang="en-US" dirty="0"/>
          </a:p>
          <a:p>
            <a:pPr indent="0" marL="0">
              <a:buNone/>
            </a:pPr>
            <a:r>
              <a:rPr lang="en-US" dirty="0">
                <a:solidFill>
                  <a:srgbClr val="CADCFC"/>
                </a:solidFill>
              </a:rPr>
              <a:t>Repo:  github.com/Naren456/devops-project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ckDeskDevOps">
  <a:themeElements>
    <a:clrScheme name="StockDeskDevOps">
      <a:dk1>
        <a:srgbClr val="141B2D"/>
      </a:dk1>
      <a:lt1>
        <a:srgbClr val="FFFFFF"/>
      </a:lt1>
      <a:dk2>
        <a:srgbClr val="0F1424"/>
      </a:dk2>
      <a:lt2>
        <a:srgbClr val="F4F5F9"/>
      </a:lt2>
      <a:accent1>
        <a:srgbClr val="4F46E5"/>
      </a:accent1>
      <a:accent2>
        <a:srgbClr val="00A896"/>
      </a:accent2>
      <a:accent3>
        <a:srgbClr val="16A34A"/>
      </a:accent3>
      <a:accent4>
        <a:srgbClr val="D97706"/>
      </a:accent4>
      <a:accent5>
        <a:srgbClr val="DC2626"/>
      </a:accent5>
      <a:accent6>
        <a:srgbClr val="7C3AED"/>
      </a:accent6>
      <a:hlink>
        <a:srgbClr val="4F46E5"/>
      </a:hlink>
      <a:folHlink>
        <a:srgbClr val="7C3AED"/>
      </a:folHlink>
    </a:clrScheme>
    <a:fontScheme name="StockDeskDevOp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StockDesk DevOps Capstone</dc:title>
  <dc:subject>PptxGenJS Presentation</dc:subject>
  <dc:creator>Narendra Sirvi</dc:creator>
  <cp:lastModifiedBy>Narendra Sirvi</cp:lastModifiedBy>
  <cp:revision>1</cp:revision>
  <dcterms:created xsi:type="dcterms:W3CDTF">2026-10-16T12:15:58Z</dcterms:created>
  <dcterms:modified xsi:type="dcterms:W3CDTF">2026-10-16T12:15:58Z</dcterms:modified>
</cp:coreProperties>
</file>