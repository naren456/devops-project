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bd46758-7d83-0367-4a99-38e522f5c3d8}">
          <p14:sldIdLst>
            <p14:sldId id="256"/>
          </p14:sldIdLst>
        </p14:section>
        <p14:section name="Overview" id="{14ad2510-e885-1ff4-2ed5-31978a247922}">
          <p14:sldIdLst>
            <p14:sldId id="257"/>
            <p14:sldId id="259"/>
          </p14:sldIdLst>
        </p14:section>
        <p14:section name="Architecture" id="{8cb22f67-03bc-552b-223b-c6fe4b3af2ab}">
          <p14:sldIdLst>
            <p14:sldId id="258"/>
          </p14:sldIdLst>
        </p14:section>
        <p14:section name="Application" id="{5d0f8721-87ef-c64a-f44d-8e62751e3f2c}">
          <p14:sldIdLst>
            <p14:sldId id="260"/>
          </p14:sldIdLst>
        </p14:section>
        <p14:section name="Build &amp; Ship" id="{97f0cad1-90eb-eb92-1c49-e4233a37637f}">
          <p14:sldIdLst>
            <p14:sldId id="261"/>
            <p14:sldId id="262"/>
          </p14:sldIdLst>
        </p14:section>
        <p14:section name="Security" id="{3538a434-d071-1a51-014b-6d83eb9c02e2}">
          <p14:sldIdLst>
            <p14:sldId id="263"/>
          </p14:sldIdLst>
        </p14:section>
        <p14:section name="Infrastructure" id="{2919b453-74c7-7430-7d99-476f92a3a569}">
          <p14:sldIdLst>
            <p14:sldId id="264"/>
            <p14:sldId id="265"/>
          </p14:sldIdLst>
        </p14:section>
        <p14:section name="Observability" id="{a1aa2ab0-7328-67e0-f2df-0c4b8057f8e3}">
          <p14:sldIdLst>
            <p14:sldId id="266"/>
          </p14:sldIdLst>
        </p14:section>
        <p14:section name="GitOps" id="{fcecba71-2349-c92d-2917-fcef1ad356ae}">
          <p14:sldIdLst>
            <p14:sldId id="267"/>
          </p14:sldIdLst>
        </p14:section>
        <p14:section name="Results" id="{fc0787ae-5dea-5c85-8a28-65d33515ecb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StockDesk is a hardware inventory tracker used to demonstrate a full DevOps lifecycle. The app is simple on purpose — the engineering around it is the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Three-tier app; stock status auto-derived. The screenshot is the real running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 flows left to right into AWS; inside EKS, ingress routes to two frontend and two backend pods, backed by Postgres, scaled by an HPA, observed by Prometheus/Grafana.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toolchain by concern — each maps to a graded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endpoints, eleven tests. Swagger shows the live API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hardened images, a single compose command for the full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gated stages; images tagged by SHA for full provenance; green runs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controls; the gate uses --ignore-unfixed so it blocks only actionable CVEs.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AWS is code — one apply to build, one destroy to remove.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Helm chart; HPA and Ingress make it production-shaped.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flow app → Prometheus → Grafana; the dashboard shows live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ArgoCD adds declarative GitOps beyond the rubric — the real-world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module covered with real, captured evidence, a green pipeline, and a clean AWS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22402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49808" y="4114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641908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StockDesk  ·  DevOps Capstone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515600" cy="2926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00A896"/>
                </a:solidFill>
              </a:rPr>
              <a:t>SESSION 21 · DEVOPS FINAL CAPSTONE</a:t>
            </a:r>
            <a:endParaRPr lang="en-US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731520" y="22402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FFFFFF"/>
                </a:solidFill>
              </a:rPr>
              <a:t>StockDesk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749808" y="4114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>
                <a:solidFill>
                  <a:srgbClr val="CADCFC"/>
                </a:solidFill>
              </a:rPr>
              <a:t>An end-to-end, cloud-native DevOps lifecycle — from a FastAPI + React + PostgreSQL app to a monitored, GitOps-managed Kubernetes platform on AWS EKS.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73152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◆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31520" y="5577840"/>
            <a:ext cx="1088136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5577840"/>
            <a:ext cx="1088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FastAPI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84248" y="5577840"/>
            <a:ext cx="86868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84248" y="55778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React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5577840"/>
            <a:ext cx="141732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17520" y="55778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PostgreSQL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99432" y="5577840"/>
            <a:ext cx="978408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99432" y="557784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Docker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42432" y="5577840"/>
            <a:ext cx="1307592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42432" y="5577840"/>
            <a:ext cx="1307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Terraform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14616" y="5577840"/>
            <a:ext cx="649224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14616" y="5577840"/>
            <a:ext cx="64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EKS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28432" y="5577840"/>
            <a:ext cx="758952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28432" y="5577840"/>
            <a:ext cx="75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Helm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51976" y="5577840"/>
            <a:ext cx="978408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51976" y="557784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ArgoCD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94976" y="5577840"/>
            <a:ext cx="1417320" cy="411480"/>
          </a:xfrm>
          <a:prstGeom prst="roundRect">
            <a:avLst>
              <a:gd name="adj" fmla="val 13333"/>
            </a:avLst>
          </a:prstGeom>
          <a:solidFill>
            <a:srgbClr val="1B223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94976" y="55778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</a:rPr>
              <a:t>Prometheus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Narendra Sirvi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What is StockDesk?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B2D"/>
                </a:solidFill>
              </a:rPr>
              <a:t>A hardware-store inventory tracker: products have a name, SKU, category, quantity and price, and their stock status is derived automatically from the quantity on hand.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31720"/>
            <a:ext cx="256032" cy="25603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2677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Frontend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React + Vite SPA served by unprivileged Nginx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0248" y="2103120"/>
            <a:ext cx="3474720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2331720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048" y="22677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Backend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2491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FastAPI (Python 3.12) REST API, SQLAlchemy ORM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103120"/>
            <a:ext cx="3474720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2331720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77656" y="22677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424"/>
                </a:solidFill>
              </a:rPr>
              <a:t>Database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2491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PostgreSQL 16 with Alembic migrations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3680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17" name="Image 0" descr="/home/narendra/Documents/devops-project/screenshot/m1-app-localhost-3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3849624"/>
            <a:ext cx="10744200" cy="165506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94944" y="5605272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StockDesk dashboard — derived stock status: in-stock (green), low (amber), out (red)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End-to-end delivery architecture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24712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4712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Develop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Git push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08376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08376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478024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CI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Test · Scan · 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15968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GHCR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SHA-tagged images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99632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75704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75704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Terraform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45352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VPC + 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83296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59368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59368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129016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Helm / ArgoCD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29016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Deploy &amp; reconcile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966960" y="155448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543032" y="171907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543032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33172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4"/>
                </a:solidFill>
              </a:rPr>
              <a:t>Observe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615184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Prometheus + Grafana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3291840"/>
            <a:ext cx="11036808" cy="2697480"/>
          </a:xfrm>
          <a:prstGeom prst="roundRect">
            <a:avLst>
              <a:gd name="adj" fmla="val 3390"/>
            </a:avLst>
          </a:prstGeom>
          <a:solidFill>
            <a:srgbClr val="F2F4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22960" y="3429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AWS EKS Cluster  ·  namespace: stockdesk  ·  ap-south-1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22960" y="4023360"/>
            <a:ext cx="201168" cy="20116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33856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Ingress-NGINX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" y="4270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AWS ELB · / → frontend · /api → backend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023360"/>
            <a:ext cx="201168" cy="2011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28816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Frontend ×2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28816" y="4270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React build on Nginx (ClusterIP)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2960" y="4983480"/>
            <a:ext cx="201168" cy="20116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133856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Backend ×2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133856" y="5230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FastAPI · HPA 2→6 @ 60% CPU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498348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28816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424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528816" y="5230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StatefulSet-style + 5Gi gp3 PVC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Technologies used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73352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15727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Application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FastAPI · React/Vite · PostgreSQL · SQLAlchemy · Alembic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673352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0" y="157276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Containers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Docker multi-stage · Docker Compose · non-root images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880360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63040" y="27797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CI/CD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145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GitHub Actions · GitHub Container Registry (GHCR)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2624328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2880360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40880" y="27797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DevSecOps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145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Trivy · Bandit (SAST) · Gitleaks · pip/npm audit (SCA)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087368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463040" y="39867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Infrastructure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352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Terraform · AWS VPC · EKS · NAT · managed node group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3831336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5080" y="4087368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0" y="39867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Orchestration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4352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Kubernetes 1.34 · Helm · Ingress-NGINX · HPA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94376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EA5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463040" y="5193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Observability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595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Prometheus · Grafana · ServiceMonitor · alert rules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26480" y="5038344"/>
            <a:ext cx="5440680" cy="1051560"/>
          </a:xfrm>
          <a:prstGeom prst="roundRect">
            <a:avLst>
              <a:gd name="adj" fmla="val 8696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55080" y="5294376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0F766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040880" y="5193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424"/>
                </a:solidFill>
              </a:rPr>
              <a:t>GitOps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55595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ArgoCD — pull-based, self-healing continuous delivery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Application &amp; testing  ·  M1 / M2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FastAPI + React + PostgreSQL — 9 REST endpoints, 11 passing tests.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Full CRUD on /api/products + stats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Stock status derived from quantity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11 Pytest cases on an isolated SQLite DB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pytest.ini + conftest.py fixtures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Alembic version-controls the schema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Tests gate the pipeline — green before build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1-swagger-api-do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FastAPI auto-generated API docs at /docs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Containerization  ·  M4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Hardened multi-stage images; the whole stack in one command.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Multi-stage builds — slim runtime images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Non-root: backend UID 10001, Nginx on :8080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docker compose up --build boots all 3 tiers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.dockerignore keeps .git / .venv out of layers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4-docker-compose-bui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docker compose up --build — backend + frontend + Postgres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CI/CD pipeline  ·  M5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GitHub Actions on every push to main: test → scan → build → push → deploy.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Pytest + Vite build gate the pipeline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Trivy CVE scan (HIGH/CRITICAL)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Images tagged by exact commit SHA — never :latest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Pushed to GitHub Container Registry (GHCR)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Deploy job runs helm upgrade to EKS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5-ci-cd-workflow-ru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GitHub Actions — green pipeline runs on main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DevSecOps — security shifted left  ·  M6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Five security controls run before anything ships.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Gitleaks — secret scanning in commits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Bandit — Python SAST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pip / npm audit — dependency SCA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Aqua Trivy — container image CVEs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Gate fails only on fixable HIGH/CRITICAL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6-trivy-sc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Trivy — 44 HIGH / 0 CRITICAL, all no-fix base-image OS CVEs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Infrastructure as Code  ·  M7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Terraform provisions the whole AWS footprint in ap-south-1.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VPC 10.20.0.0/16 — 2 public + 2 private subnets + NAT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EKS 1.34 with a 2-node managed group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IAM roles, OIDC provider &amp; KMS key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terraform.tfvars.example — no secrets committed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terraform destroy → 0 resources, $0 cost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7-eks-console-clus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AWS Console — stockdesk-eks Active (v1.34), Project=stockdesk tags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Kubernetes &amp; Helm  ·  M8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One Helm chart deploys a production-shaped app.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Namespace + chart + dev/prod values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2 replicas each for backend &amp; frontend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ClusterIP services for all three tiers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Ingress: / → frontend · /api → backend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HPA scales backend 2 → 6 at 60% CPU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Raw kubernetes/00–10 provided too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8-app-via-ing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StockDesk served through the EKS Ingress ELB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Monitoring &amp; observability  ·  M9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Prometheus + Grafana on the four golden signals.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FastAPI instrumented — request counts &amp; latency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Prometheus scrapes /metrics every 15s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ServiceMonitor wires in the backend targets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Grafana: RPS, 5xx rate, p95 latency, pods up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Alert rules: BackendDown &amp; High5xxErrorRate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m9-grafana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Grafana — StockDesk Backend dashboard (live data)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GitOps with ArgoCD  ·  bonus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41B2D"/>
                </a:solidFill>
              </a:rPr>
              <a:t>Declarative, self-healing continuous delivery on top of Helm.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Git is the single source of truth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ArgoCD watches helm/stockdesk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Automated sync + prune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Self-heals manual kubectl drift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41B2D"/>
                </a:solidFill>
              </a:rPr>
              <a:t>Result: Synced &amp; Healthy (17 resources)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0" y="1371600"/>
            <a:ext cx="5961888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7A8396">
                <a:alpha val="32000"/>
              </a:srgbClr>
            </a:outerShdw>
          </a:effectLst>
        </p:spPr>
      </p:sp>
      <p:pic>
        <p:nvPicPr>
          <p:cNvPr id="6" name="Image 0" descr="/home/narendra/Documents/devops-project/screenshot/argocd-synced-health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15584" y="1517904"/>
            <a:ext cx="5669280" cy="39867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15584" y="56052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ArgoCD — stockdesk-capstone Synced &amp; Healthy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Results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6A34A"/>
                </a:solidFill>
              </a:rPr>
              <a:t>10 / 10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modules delivered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61104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352544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F46E5"/>
                </a:solidFill>
              </a:rPr>
              <a:t>11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4352544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tests passing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3568" y="1554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65008" y="18288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A896"/>
                </a:solidFill>
              </a:rPr>
              <a:t>Green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8065008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CI/CD pipeline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7C3AED"/>
                </a:solidFill>
              </a:rPr>
              <a:t>18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evidence screenshots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61104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52544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</a:rPr>
              <a:t>$0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4352544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AWS cost after destroy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973568" y="37033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E6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3B2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065008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A5E9"/>
                </a:solidFill>
              </a:rPr>
              <a:t>1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4937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Loom demo walkthrough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1908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ckDeskDevOps">
  <a:themeElements>
    <a:clrScheme name="StockDeskDevOps">
      <a:dk1>
        <a:srgbClr val="141B2D"/>
      </a:dk1>
      <a:lt1>
        <a:srgbClr val="FFFFFF"/>
      </a:lt1>
      <a:dk2>
        <a:srgbClr val="0F1424"/>
      </a:dk2>
      <a:lt2>
        <a:srgbClr val="F4F5F9"/>
      </a:lt2>
      <a:accent1>
        <a:srgbClr val="4F46E5"/>
      </a:accent1>
      <a:accent2>
        <a:srgbClr val="00A896"/>
      </a:accent2>
      <a:accent3>
        <a:srgbClr val="16A34A"/>
      </a:accent3>
      <a:accent4>
        <a:srgbClr val="D97706"/>
      </a:accent4>
      <a:accent5>
        <a:srgbClr val="DC2626"/>
      </a:accent5>
      <a:accent6>
        <a:srgbClr val="7C3AED"/>
      </a:accent6>
      <a:hlink>
        <a:srgbClr val="4F46E5"/>
      </a:hlink>
      <a:folHlink>
        <a:srgbClr val="7C3AED"/>
      </a:folHlink>
    </a:clrScheme>
    <a:fontScheme name="StockDeskDevOp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StockDesk DevOps Capstone</dc:title>
  <dc:subject>PptxGenJS Presentation</dc:subject>
  <dc:creator>Narendra Sirvi</dc:creator>
  <cp:lastModifiedBy>Narendra Sirvi</cp:lastModifiedBy>
  <cp:revision>1</cp:revision>
  <dcterms:created xsi:type="dcterms:W3CDTF">2026-10-16T16:00:14Z</dcterms:created>
  <dcterms:modified xsi:type="dcterms:W3CDTF">2026-10-16T16:00:14Z</dcterms:modified>
</cp:coreProperties>
</file>