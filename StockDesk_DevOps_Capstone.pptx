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4984ecf-a4fc-f23a-333f-7eb57a1e7e20}">
          <p14:sldIdLst>
            <p14:sldId id="256"/>
          </p14:sldIdLst>
        </p14:section>
        <p14:section name="Overview" id="{8f79db12-a2b5-3f38-44ff-d8439d791dd7}">
          <p14:sldIdLst>
            <p14:sldId id="257"/>
            <p14:sldId id="259"/>
          </p14:sldIdLst>
        </p14:section>
        <p14:section name="Architecture" id="{f54112de-1811-13aa-45d0-c484006d51a9}">
          <p14:sldIdLst>
            <p14:sldId id="258"/>
          </p14:sldIdLst>
        </p14:section>
        <p14:section name="Application" id="{81f53874-e8d3-df0e-a34a-73055ca1fb36}">
          <p14:sldIdLst>
            <p14:sldId id="260"/>
          </p14:sldIdLst>
        </p14:section>
        <p14:section name="Build &amp; Ship" id="{7a640178-f0d2-8398-a313-50eab55fb6f9}">
          <p14:sldIdLst>
            <p14:sldId id="261"/>
            <p14:sldId id="262"/>
          </p14:sldIdLst>
        </p14:section>
        <p14:section name="Security" id="{04934f06-401d-2082-3684-15ff33cd740c}">
          <p14:sldIdLst>
            <p14:sldId id="263"/>
          </p14:sldIdLst>
        </p14:section>
        <p14:section name="Infrastructure" id="{ac262668-8425-50fd-4882-05b0b99f6327}">
          <p14:sldIdLst>
            <p14:sldId id="264"/>
            <p14:sldId id="265"/>
          </p14:sldIdLst>
        </p14:section>
        <p14:section name="Observability" id="{aede1c35-f4e4-1489-4d23-8b678907c0c2}">
          <p14:sldIdLst>
            <p14:sldId id="266"/>
          </p14:sldIdLst>
        </p14:section>
        <p14:section name="GitOps" id="{d6db428b-eb13-3bc0-b1d1-00c202d00ee8}">
          <p14:sldIdLst>
            <p14:sldId id="267"/>
          </p14:sldIdLst>
        </p14:section>
        <p14:section name="Results" id="{f163979e-f589-3ee0-5178-1e73b94328eb}">
          <p14:sldIdLst>
            <p14:sldId id="268"/>
          </p14:sldIdLst>
        </p14:section>
        <p14:section name="Close" id="{28ad12f4-83b3-2368-5e53-79e9eae1b57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StockDesk is a hardware inventory tracker used to demonstrate a full DevOps lifecycle. The app is simple on purpose — the engineering around it is the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Three-tier app; stock status auto-derived. The screenshot is the real running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Commit flows left to right into AWS; inside EKS, ingress routes to two frontend and two backend pods, backed by Postgres, scaled by an HPA, observed by Prometheus/Grafana.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toolchain by concern — each maps to a graded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endpoints, eleven tests. Swagger shows the live API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hardened images, a single compose command for the full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gated stages; images tagged by SHA for full provenance; green runs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controls; the gate uses --ignore-unfixed so it blocks only actionable CVEs.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 AWS is code — one apply to build, one destroy to remove.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Helm chart; HPA and Ingress make it production-shaped.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flow app → Prometheus → Grafana; the dashboard shows live traffic.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ArgoCD adds declarative GitOps beyond the rubric — the real-world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module covered with real, captured evidence, a green pipeline, and a clean AWS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lifecycle delivered. The two fixes show that deploying for real surfaces issues tests never will. Thanks — happy to demo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224028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49808" y="411480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190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StockDesk  ·  DevOps Capstone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49808" y="3108960"/>
            <a:ext cx="10515600" cy="2926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731520" y="173736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>
                <a:solidFill>
                  <a:srgbClr val="00A896"/>
                </a:solidFill>
              </a:rPr>
              <a:t>SESSION 21 · DEVOPS FINAL CAPSTONE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731520" y="224028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StockDesk</a:t>
            </a:r>
            <a:endParaRPr lang="en-US" dirty="0"/>
          </a:p>
        </p:txBody>
      </p:sp>
      <p:sp>
        <p:nvSpPr>
          <p:cNvPr id="4" name="Text 2"/>
          <p:cNvSpPr/>
          <p:nvPr>
            <p:ph hasCustomPrompt="1"/>
          </p:nvPr>
        </p:nvSpPr>
        <p:spPr>
          <a:xfrm>
            <a:off x="749808" y="411480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>
                <a:solidFill>
                  <a:srgbClr val="CADCFC"/>
                </a:solidFill>
              </a:rPr>
              <a:t>An end-to-end, cloud-native DevOps lifecycle — from a FastAPI + React + PostgreSQL app to a monitored, GitOps-managed Kubernetes platform on AWS EKS.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31520" y="73152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731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◆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5577840"/>
            <a:ext cx="1088136" cy="411480"/>
          </a:xfrm>
          <a:prstGeom prst="roundRect">
            <a:avLst>
              <a:gd name="adj" fmla="val 13333"/>
            </a:avLst>
          </a:prstGeom>
          <a:solidFill>
            <a:srgbClr val="1B22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5577840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FastAPI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84248" y="557784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1B223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84248" y="55778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React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5577840"/>
            <a:ext cx="1417320" cy="411480"/>
          </a:xfrm>
          <a:prstGeom prst="roundRect">
            <a:avLst>
              <a:gd name="adj" fmla="val 13333"/>
            </a:avLst>
          </a:prstGeom>
          <a:solidFill>
            <a:srgbClr val="1B22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17520" y="5577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99432" y="5577840"/>
            <a:ext cx="978408" cy="411480"/>
          </a:xfrm>
          <a:prstGeom prst="roundRect">
            <a:avLst>
              <a:gd name="adj" fmla="val 13333"/>
            </a:avLst>
          </a:prstGeom>
          <a:solidFill>
            <a:srgbClr val="1B223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99432" y="5577840"/>
            <a:ext cx="97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Docker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42432" y="5577840"/>
            <a:ext cx="1307592" cy="411480"/>
          </a:xfrm>
          <a:prstGeom prst="roundRect">
            <a:avLst>
              <a:gd name="adj" fmla="val 13333"/>
            </a:avLst>
          </a:prstGeom>
          <a:solidFill>
            <a:srgbClr val="1B22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742432" y="557784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Terraform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14616" y="5577840"/>
            <a:ext cx="649224" cy="411480"/>
          </a:xfrm>
          <a:prstGeom prst="roundRect">
            <a:avLst>
              <a:gd name="adj" fmla="val 13333"/>
            </a:avLst>
          </a:prstGeom>
          <a:solidFill>
            <a:srgbClr val="1B22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14616" y="5577840"/>
            <a:ext cx="64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EKS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28432" y="5577840"/>
            <a:ext cx="758952" cy="411480"/>
          </a:xfrm>
          <a:prstGeom prst="roundRect">
            <a:avLst>
              <a:gd name="adj" fmla="val 13333"/>
            </a:avLst>
          </a:prstGeom>
          <a:solidFill>
            <a:srgbClr val="1B223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28432" y="5577840"/>
            <a:ext cx="75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Helm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51976" y="5577840"/>
            <a:ext cx="978408" cy="411480"/>
          </a:xfrm>
          <a:prstGeom prst="roundRect">
            <a:avLst>
              <a:gd name="adj" fmla="val 13333"/>
            </a:avLst>
          </a:prstGeom>
          <a:solidFill>
            <a:srgbClr val="1B223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951976" y="5577840"/>
            <a:ext cx="97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ArgoCD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094976" y="5577840"/>
            <a:ext cx="1417320" cy="411480"/>
          </a:xfrm>
          <a:prstGeom prst="roundRect">
            <a:avLst>
              <a:gd name="adj" fmla="val 13333"/>
            </a:avLst>
          </a:prstGeom>
          <a:solidFill>
            <a:srgbClr val="1B22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94976" y="5577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Prometheus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868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Narendra Sirvi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What is StockDesk?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1B2D"/>
                </a:solidFill>
              </a:rPr>
              <a:t>A hardware-store inventory tracker: products have a name, SKU, category, quantity and price, and their stock status is derived automatically from the quantity on hand.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31720"/>
            <a:ext cx="256032" cy="25603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22677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424"/>
                </a:solidFill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2491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React + Vite SPA served by unprivileged Nginx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0248" y="210312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44568" y="233172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56048" y="22677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424"/>
                </a:solidFill>
              </a:rPr>
              <a:t>Backend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272491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FastAPI (Python 3.12) REST API, SQLAlchemy ORM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91856" y="210312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2331720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77656" y="22677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424"/>
                </a:solidFill>
              </a:rPr>
              <a:t>Database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66176" y="272491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PostgreSQL 16 with Alembic migrations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1036808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7A8396">
                <a:alpha val="32000"/>
              </a:srgbClr>
            </a:outerShdw>
          </a:effectLst>
        </p:spPr>
      </p:sp>
      <p:pic>
        <p:nvPicPr>
          <p:cNvPr id="17" name="Image 0" descr="/home/narendra/Documents/devops-project/screenshot/m1-app-localhost-300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3849624"/>
            <a:ext cx="10744200" cy="165506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94944" y="5605272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StockDesk dashboard — derived stock status: in-stock (green), low (amber), out (red)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End-to-end delivery architecture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24712" y="17190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4712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3172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424"/>
                </a:solidFill>
              </a:rPr>
              <a:t>Develop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15184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Git push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32304" y="1554480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08376" y="17190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08376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478024" y="233172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424"/>
                </a:solidFill>
              </a:rPr>
              <a:t>CI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478024" y="2615184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Test · Scan · Build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15968" y="1554480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17190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233172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424"/>
                </a:solidFill>
              </a:rPr>
              <a:t>GHCR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2615184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SHA-tagged images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9632" y="1554480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75704" y="17190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75704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245352" y="233172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424"/>
                </a:solidFill>
              </a:rPr>
              <a:t>Terraform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2615184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VPC + EKS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83296" y="1554480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59368" y="17190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59368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129016" y="233172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424"/>
                </a:solidFill>
              </a:rPr>
              <a:t>Helm / ArgoCD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129016" y="2615184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Deploy &amp; reconcile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966960" y="1554480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543032" y="17190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543032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0012680" y="233172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424"/>
                </a:solidFill>
              </a:rPr>
              <a:t>Observe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012680" y="2615184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Prometheus + Grafana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3291840"/>
            <a:ext cx="11036808" cy="2697480"/>
          </a:xfrm>
          <a:prstGeom prst="roundRect">
            <a:avLst>
              <a:gd name="adj" fmla="val 3390"/>
            </a:avLst>
          </a:prstGeom>
          <a:solidFill>
            <a:srgbClr val="F2F4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22960" y="3429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424"/>
                </a:solidFill>
              </a:rPr>
              <a:t>AWS EKS Cluster  ·  namespace: stockdesk  ·  ap-south-1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22960" y="4023360"/>
            <a:ext cx="201168" cy="20116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133856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424"/>
                </a:solidFill>
              </a:rPr>
              <a:t>Ingress-NGINX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133856" y="42702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AWS ELB · / → frontend · /api → backend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7920" y="402336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528816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424"/>
                </a:solidFill>
              </a:rPr>
              <a:t>Frontend ×2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28816" y="42702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React build on Nginx (ClusterIP)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22960" y="4983480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133856" y="4892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424"/>
                </a:solidFill>
              </a:rPr>
              <a:t>Backend ×2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133856" y="52303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FastAPI · HPA 2→6 @ 60% CPU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17920" y="498348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528816" y="4892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424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6528816" y="52303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StatefulSet-style + 5Gi gp3 PVC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Technologies used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73352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5727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424"/>
                </a:solidFill>
              </a:rPr>
              <a:t>Application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9385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FastAPI · React/Vite · PostgreSQL · SQLAlchemy · Alembic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141732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55080" y="1673352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40880" y="15727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424"/>
                </a:solidFill>
              </a:rPr>
              <a:t>Containers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19385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Docker multi-stage · Docker Compose · non-root images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88036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463040" y="277977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424"/>
                </a:solidFill>
              </a:rPr>
              <a:t>CI/CD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1455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GitHub Actions · GitHub Container Registry (GHCR)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2624328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288036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DC262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40880" y="277977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424"/>
                </a:solidFill>
              </a:rPr>
              <a:t>DevSecOps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1455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Trivy · Bandit (SAST) · Gitleaks · pip/npm audit (SCA)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31336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87368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D9770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463040" y="398678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424"/>
                </a:solidFill>
              </a:rPr>
              <a:t>Infrastructure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3525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Terraform · AWS VPC · EKS · NAT · managed node group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26480" y="3831336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55080" y="4087368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16A3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040880" y="398678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424"/>
                </a:solidFill>
              </a:rPr>
              <a:t>Orchestration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43525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Kubernetes 1.34 · Helm · Ingress-NGINX · HPA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038344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7240" y="5294376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0EA5E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463040" y="51937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424"/>
                </a:solidFill>
              </a:rPr>
              <a:t>Observability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463040" y="55595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Prometheus · Grafana · ServiceMonitor · alert rules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26480" y="5038344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5080" y="5294376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0F766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040880" y="51937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424"/>
                </a:solidFill>
              </a:rPr>
              <a:t>GitOps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55595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ArgoCD — pull-based, self-healing continuous delivery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Application &amp; testing  ·  M1 / M2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41B2D"/>
                </a:solidFill>
              </a:rPr>
              <a:t>FastAPI + React + PostgreSQL — 9 REST endpoints, 11 passing tests.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Full CRUD on /api/products + stats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Stock status derived from quantity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11 Pytest cases on an isolated SQLite DB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pytest.ini + conftest.py fixtures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Alembic version-controls the schema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Tests gate the pipeline — green before build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371600"/>
            <a:ext cx="5961888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7A8396">
                <a:alpha val="32000"/>
              </a:srgbClr>
            </a:outerShdw>
          </a:effectLst>
        </p:spPr>
      </p:sp>
      <p:pic>
        <p:nvPicPr>
          <p:cNvPr id="6" name="Image 0" descr="/home/narendra/Documents/devops-project/screenshot/m1-swagger-api-do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15584" y="1517904"/>
            <a:ext cx="5669280" cy="39867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15584" y="560527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FastAPI auto-generated API docs at /docs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Containerization  ·  M4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41B2D"/>
                </a:solidFill>
              </a:rPr>
              <a:t>Hardened multi-stage images; the whole stack in one command.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Multi-stage builds — slim runtime images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Non-root: backend UID 10001, Nginx on :8080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docker compose up --build boots all 3 tiers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.dockerignore keeps .git / .venv out of layers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371600"/>
            <a:ext cx="5961888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7A8396">
                <a:alpha val="32000"/>
              </a:srgbClr>
            </a:outerShdw>
          </a:effectLst>
        </p:spPr>
      </p:sp>
      <p:pic>
        <p:nvPicPr>
          <p:cNvPr id="6" name="Image 0" descr="/home/narendra/Documents/devops-project/screenshot/m4-docker-compose-buil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15584" y="1517904"/>
            <a:ext cx="5669280" cy="39867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15584" y="560527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docker compose up --build — backend + frontend + Postgres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CI/CD pipeline  ·  M5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41B2D"/>
                </a:solidFill>
              </a:rPr>
              <a:t>GitHub Actions on every push to main: test → scan → build → push → deploy.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Pytest + Vite build gate the pipeline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Trivy CVE scan (HIGH/CRITICAL)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Images tagged by exact commit SHA — never :latest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Pushed to GitHub Container Registry (GHCR)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Deploy job runs helm upgrade to EKS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371600"/>
            <a:ext cx="5961888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7A8396">
                <a:alpha val="32000"/>
              </a:srgbClr>
            </a:outerShdw>
          </a:effectLst>
        </p:spPr>
      </p:sp>
      <p:pic>
        <p:nvPicPr>
          <p:cNvPr id="6" name="Image 0" descr="/home/narendra/Documents/devops-project/screenshot/m5-ci-cd-workflow-ru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15584" y="1517904"/>
            <a:ext cx="5669280" cy="39867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15584" y="560527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GitHub Actions — green pipeline runs on main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DevSecOps — security shifted left  ·  M6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41B2D"/>
                </a:solidFill>
              </a:rPr>
              <a:t>Five security controls run before anything ships.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Gitleaks — secret scanning in commits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Bandit — Python SAST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pip / npm audit — dependency SCA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Aqua Trivy — container image CVEs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Gate fails only on fixable HIGH/CRITICAL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371600"/>
            <a:ext cx="5961888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7A8396">
                <a:alpha val="32000"/>
              </a:srgbClr>
            </a:outerShdw>
          </a:effectLst>
        </p:spPr>
      </p:sp>
      <p:pic>
        <p:nvPicPr>
          <p:cNvPr id="6" name="Image 0" descr="/home/narendra/Documents/devops-project/screenshot/m6-trivy-sc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15584" y="1517904"/>
            <a:ext cx="5669280" cy="39867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15584" y="560527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Trivy — 44 HIGH / 0 CRITICAL, all no-fix base-image OS CVEs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Infrastructure as Code  ·  M7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41B2D"/>
                </a:solidFill>
              </a:rPr>
              <a:t>Terraform provisions the whole AWS footprint in ap-south-1.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VPC 10.20.0.0/16 — 2 public + 2 private subnets + NAT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EKS 1.34 with a 2-node managed group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IAM roles, OIDC provider &amp; KMS key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terraform.tfvars.example — no secrets committed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terraform destroy → 0 resources, $0 cost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371600"/>
            <a:ext cx="5961888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7A8396">
                <a:alpha val="32000"/>
              </a:srgbClr>
            </a:outerShdw>
          </a:effectLst>
        </p:spPr>
      </p:sp>
      <p:pic>
        <p:nvPicPr>
          <p:cNvPr id="6" name="Image 0" descr="/home/narendra/Documents/devops-project/screenshot/m7-eks-console-clus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15584" y="1517904"/>
            <a:ext cx="5669280" cy="39867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15584" y="560527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AWS Console — stockdesk-eks Active (v1.34), Project=stockdesk tags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Kubernetes &amp; Helm  ·  M8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41B2D"/>
                </a:solidFill>
              </a:rPr>
              <a:t>One Helm chart deploys a production-shaped app.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Namespace + chart + dev/prod values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2 replicas each for backend &amp; frontend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ClusterIP services for all three tiers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Ingress: / → frontend · /api → backend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HPA scales backend 2 → 6 at 60% CPU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Raw kubernetes/00–10 provided too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371600"/>
            <a:ext cx="5961888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7A8396">
                <a:alpha val="32000"/>
              </a:srgbClr>
            </a:outerShdw>
          </a:effectLst>
        </p:spPr>
      </p:sp>
      <p:pic>
        <p:nvPicPr>
          <p:cNvPr id="6" name="Image 0" descr="/home/narendra/Documents/devops-project/screenshot/m8-app-via-ingr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15584" y="1517904"/>
            <a:ext cx="5669280" cy="39867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15584" y="560527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StockDesk served through the EKS Ingress ELB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Monitoring &amp; observability  ·  M9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41B2D"/>
                </a:solidFill>
              </a:rPr>
              <a:t>Prometheus + Grafana on the four golden signals.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FastAPI instrumented — request counts &amp; latency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Prometheus scrapes /metrics every 15s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ServiceMonitor wires in the backend targets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Grafana: RPS, 5xx rate, p95 latency, pods up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Alert rules: BackendDown &amp; High5xxErrorRate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371600"/>
            <a:ext cx="5961888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7A8396">
                <a:alpha val="32000"/>
              </a:srgbClr>
            </a:outerShdw>
          </a:effectLst>
        </p:spPr>
      </p:sp>
      <p:pic>
        <p:nvPicPr>
          <p:cNvPr id="6" name="Image 0" descr="/home/narendra/Documents/devops-project/screenshot/m9-grafana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15584" y="1517904"/>
            <a:ext cx="5669280" cy="39867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15584" y="560527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Grafana — StockDesk Backend dashboard (live data)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GitOps with ArgoCD  ·  bonus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41B2D"/>
                </a:solidFill>
              </a:rPr>
              <a:t>Declarative, self-healing continuous delivery on top of Helm.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Git is the single source of truth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ArgoCD watches helm/stockdesk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Automated sync + prune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Self-heals manual kubectl drift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41B2D"/>
                </a:solidFill>
              </a:rPr>
              <a:t>Result: Synced &amp; Healthy (17 resources)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371600"/>
            <a:ext cx="5961888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7A8396">
                <a:alpha val="32000"/>
              </a:srgbClr>
            </a:outerShdw>
          </a:effectLst>
        </p:spPr>
      </p:sp>
      <p:pic>
        <p:nvPicPr>
          <p:cNvPr id="6" name="Image 0" descr="/home/narendra/Documents/devops-project/screenshot/argocd-synced-health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15584" y="1517904"/>
            <a:ext cx="5669280" cy="39867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15584" y="560527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ArgoCD — stockdesk-capstone Synced &amp; Healthy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Results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828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6A34A"/>
                </a:solidFill>
              </a:rPr>
              <a:t>10 / 10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modules delivered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61104" y="15544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352544" y="1828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F46E5"/>
                </a:solidFill>
              </a:rPr>
              <a:t>11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4352544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tests passing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73568" y="15544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065008" y="1828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A896"/>
                </a:solidFill>
              </a:rPr>
              <a:t>Green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8065008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CI/CD pipeline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3977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7C3AED"/>
                </a:solidFill>
              </a:rPr>
              <a:t>18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937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evidence screenshots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61104" y="37033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352544" y="3977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7706"/>
                </a:solidFill>
              </a:rPr>
              <a:t>$0</a:t>
            </a:r>
            <a:endParaRPr lang="en-US" sz="4600" dirty="0"/>
          </a:p>
        </p:txBody>
      </p:sp>
      <p:sp>
        <p:nvSpPr>
          <p:cNvPr id="17" name="Text 15"/>
          <p:cNvSpPr txBox="1"/>
          <p:nvPr/>
        </p:nvSpPr>
        <p:spPr>
          <a:xfrm>
            <a:off x="4352544" y="4937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AWS cost after destroy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73568" y="37033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065008" y="3977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EA5E9"/>
                </a:solidFill>
              </a:rPr>
              <a:t>1</a:t>
            </a:r>
            <a:endParaRPr lang="en-US" sz="4600" dirty="0"/>
          </a:p>
        </p:txBody>
      </p:sp>
      <p:sp>
        <p:nvSpPr>
          <p:cNvPr id="20" name="Text 18"/>
          <p:cNvSpPr txBox="1"/>
          <p:nvPr/>
        </p:nvSpPr>
        <p:spPr>
          <a:xfrm>
            <a:off x="8065008" y="4937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Loom demo walkthrough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>
                <a:solidFill>
                  <a:srgbClr val="00A896"/>
                </a:solidFill>
              </a:rPr>
              <a:t>CONCLUSION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From laptop to monitored production</a:t>
            </a:r>
            <a:endParaRPr lang="en-US" dirty="0"/>
          </a:p>
        </p:txBody>
      </p:sp>
      <p:sp>
        <p:nvSpPr>
          <p:cNvPr id="4" name="Text 2"/>
          <p:cNvSpPr/>
          <p:nvPr>
            <p:ph hasCustomPrompt="1"/>
          </p:nvPr>
        </p:nvSpPr>
        <p:spPr>
          <a:xfrm>
            <a:off x="749808" y="3108960"/>
            <a:ext cx="10515600" cy="2926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spcAft>
                <a:spcPts val="1400"/>
              </a:spcAft>
              <a:buNone/>
            </a:pPr>
            <a:r>
              <a:rPr lang="en-US" dirty="0">
                <a:solidFill>
                  <a:srgbClr val="CADCFC"/>
                </a:solidFill>
              </a:rPr>
              <a:t>A simple app carried through the full DevOps lifecycle: containers, tested CI/CD, DevSecOps scanning, Terraform-provisioned EKS, Helm, GitOps, and observability.</a:t>
            </a:r>
            <a:endParaRPr lang="en-US" dirty="0"/>
          </a:p>
          <a:p>
            <a:pPr indent="0" marL="0">
              <a:spcAft>
                <a:spcPts val="600"/>
              </a:spcAft>
              <a:buNone/>
            </a:pPr>
            <a:r>
              <a:rPr lang="en-US" b="1" dirty="0">
                <a:solidFill>
                  <a:srgbClr val="FFFFFF"/>
                </a:solidFill>
              </a:rPr>
              <a:t>Real bugs found by actually deploying: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CADCFC"/>
                </a:solidFill>
              </a:rPr>
              <a:t>alembic prepend_sys_path — migrations couldn't import app in-container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CADCFC"/>
                </a:solidFill>
              </a:rPr>
              <a:t>Postgres PGDATA subdir — initdb fails on an EBS volume's lost+found</a:t>
            </a:r>
            <a:endParaRPr lang="en-US" dirty="0"/>
          </a:p>
          <a:p>
            <a:pPr indent="0" marL="0">
              <a:buNone/>
            </a:pPr>
            <a:r>
              <a:rPr lang="en-US" b="1" dirty="0">
                <a:solidFill>
                  <a:srgbClr val="00A896"/>
                </a:solidFill>
              </a:rPr>
              <a:t>Demo:  loom.com/share/17e254cf0a774a64ac4bbb830a0a734e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CADCFC"/>
                </a:solidFill>
              </a:rPr>
              <a:t>Repo:  github.com/Naren456/devops-project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ckDeskDevOps">
  <a:themeElements>
    <a:clrScheme name="StockDeskDevOps">
      <a:dk1>
        <a:srgbClr val="141B2D"/>
      </a:dk1>
      <a:lt1>
        <a:srgbClr val="FFFFFF"/>
      </a:lt1>
      <a:dk2>
        <a:srgbClr val="0F1424"/>
      </a:dk2>
      <a:lt2>
        <a:srgbClr val="F4F5F9"/>
      </a:lt2>
      <a:accent1>
        <a:srgbClr val="4F46E5"/>
      </a:accent1>
      <a:accent2>
        <a:srgbClr val="00A896"/>
      </a:accent2>
      <a:accent3>
        <a:srgbClr val="16A34A"/>
      </a:accent3>
      <a:accent4>
        <a:srgbClr val="D97706"/>
      </a:accent4>
      <a:accent5>
        <a:srgbClr val="DC2626"/>
      </a:accent5>
      <a:accent6>
        <a:srgbClr val="7C3AED"/>
      </a:accent6>
      <a:hlink>
        <a:srgbClr val="4F46E5"/>
      </a:hlink>
      <a:folHlink>
        <a:srgbClr val="7C3AED"/>
      </a:folHlink>
    </a:clrScheme>
    <a:fontScheme name="StockDeskDevOp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StockDesk DevOps Capstone</dc:title>
  <dc:subject>PptxGenJS Presentation</dc:subject>
  <dc:creator>Narendra Sirvi</dc:creator>
  <cp:lastModifiedBy>Narendra Sirvi</cp:lastModifiedBy>
  <cp:revision>1</cp:revision>
  <dcterms:created xsi:type="dcterms:W3CDTF">2026-10-16T15:35:06Z</dcterms:created>
  <dcterms:modified xsi:type="dcterms:W3CDTF">2026-10-16T15:35:06Z</dcterms:modified>
</cp:coreProperties>
</file>